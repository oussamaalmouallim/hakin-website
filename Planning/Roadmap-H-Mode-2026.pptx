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4a41817-10e5-0184-1fd4-6f29188083cc}">
          <p14:sldIdLst>
            <p14:sldId id="256"/>
            <p14:sldId id="257"/>
            <p14:sldId id="258"/>
          </p14:sldIdLst>
        </p14:section>
        <p14:section name="Phase 0 · Existant" id="{22dc8c7a-b106-7271-cee4-de6154e6d9c9}">
          <p14:sldIdLst>
            <p14:sldId id="259"/>
            <p14:sldId id="260"/>
            <p14:sldId id="261"/>
            <p14:sldId id="262"/>
            <p14:sldId id="263"/>
          </p14:sldIdLst>
        </p14:section>
        <p14:section name="Phase 1 · Marché" id="{c5d78c2a-db74-2b08-4cfa-55a94508d140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Stratégie" id="{949c6e52-1354-f525-b4ce-578b5b4cd384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hases 0–2 · Fondations" id="{2479011e-3dc2-e74c-d927-a7a5f944455f}">
          <p14:sldIdLst>
            <p14:sldId id="277"/>
            <p14:sldId id="278"/>
            <p14:sldId id="279"/>
            <p14:sldId id="280"/>
          </p14:sldIdLst>
        </p14:section>
        <p14:section name="Phases 3–4 · Marketing" id="{151f9fa1-1928-f008-d824-196980d80763}">
          <p14:sldIdLst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Phases 5–6 · Site" id="{718e1b78-0333-165e-45ce-7b383f614eb7}">
          <p14:sldIdLst>
            <p14:sldId id="287"/>
            <p14:sldId id="288"/>
            <p14:sldId id="289"/>
            <p14:sldId id="290"/>
          </p14:sldIdLst>
        </p14:section>
        <p14:section name="Phases 7–9 · Lancement" id="{1606842b-bec2-f45b-a2c0-2a92d3341c04}">
          <p14:sldIdLst>
            <p14:sldId id="291"/>
            <p14:sldId id="292"/>
            <p14:sldId id="293"/>
            <p14:sldId id="294"/>
            <p14:sldId id="295"/>
          </p14:sldIdLst>
        </p14:section>
        <p14:section name="Décisions &amp; suite" id="{11742a35-ebed-0055-7d00-8babf8d3715a}">
          <p14:sldIdLst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Ipsos Spotlight*Maroc (27/11/2024) ; ANRT Enquête TIC 2023-2024 ; DataReportal Digital 2025 Morocco — tous repris de Planning/PLAN-COMPLET.html. 83,8 % : swiftlog.ma (blog prestataire, 2026) qui l'attribue à l'enquête TIC ANRT 2024-2025 — à vérifier dans le rapport ANRT original avant 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Avito — Planning/master_plan_ecommerceV3 ch.14 ; marwa.com/e-shop (résultats de recherche) ; kiabi.ma/collections/k-t-shirt-homme (page consultée oct. 2026) ; lcwaikiki.ma page livraison (résultats de recherche, page officielle non accessible : 403) ; leecooper.ma (résumé moteur) ; maroco.co (page consultée) ; jumia.ma/t-shirts.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Repères d'agences (non audités, écarts entre sources) : deadline.ma / webotic.ma — CPM Meta e-commerce Maroc cité entre 15 et 60 MAD, CPC 0,8 à 4 MAD, budget minimum PME 4 000–8 000 MAD/mois. À remplacer par les coûts réels mesurés au stade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: tarifs et intégrations cités par oasistechnocloud.com, deadline.ma, sentinelstudio.ma (2026) — blogs d'agences, à vérifier sur les sites officiels Shopify et YouCan au moment du choix.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6135624"/>
            <a:ext cx="10570464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Mode — Roadmap e-commerce vêtements · Octobre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ALT">
    <p:bg>
      <p:bgPr>
        <a:solidFill>
          <a:srgbClr val="F2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6135624"/>
            <a:ext cx="10570464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Mode — Roadmap e-commerce vêtements · Octobre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 MODE · CASABLANCA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645920"/>
            <a:ext cx="10570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spc="-100" kern="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e-commerce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743200"/>
            <a:ext cx="1057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préparation de la marque au scaling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3816" y="3520440"/>
            <a:ext cx="1399032" cy="0"/>
          </a:xfrm>
          <a:prstGeom prst="line">
            <a:avLst/>
          </a:prstGeom>
          <a:noFill/>
          <a:ln w="19050">
            <a:solidFill>
              <a:srgbClr val="3E88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" y="37490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Feuille de route à valider avant tout développement du site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42976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Existant → marché → produits → réseaux sociaux → Ads → site → direction artistique → production → lancement → optimisation. Chaque phase : objectif, prérequis, livrables, décisions et critère de passage.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SYNTHÈSE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PROJET EN UNE PAGE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Vendre de la qualité prouvée, pas des marques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2011680"/>
            <a:ext cx="3401568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21284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OÙ NOUS SOMMES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50545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études, pas encore de vente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145536"/>
            <a:ext cx="29626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Maroc solide dans Planning, plan « première vente » prêt, site vitrine statique. Aucune vente, aucun compte social ni coût produit documentés dans le projet.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8264" y="2011680"/>
            <a:ext cx="3401568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21284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OÙ NOUS ALLONS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0545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boutique de vêtements qui convertit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145536"/>
            <a:ext cx="29626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sélection courte de vêtements de bonne qualité, des pages Instagram/Facebook crédibles, un site qui encaisse les commandes en paiement à la livraison.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82712" y="2011680"/>
            <a:ext cx="3401568" cy="2514600"/>
          </a:xfrm>
          <a:prstGeom prst="roundRect">
            <a:avLst>
              <a:gd name="adj" fmla="val 3636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02168" y="221284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02168" y="250545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Tester avant de dépenser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02168" y="3145536"/>
            <a:ext cx="29626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Produits en main → contenu → pages prêtes → micro-tests Ads → site → lancement → optimisation pilotée par les données réelles.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" y="4754880"/>
            <a:ext cx="10570464" cy="685800"/>
          </a:xfrm>
          <a:prstGeom prst="rect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" y="4754880"/>
            <a:ext cx="45720" cy="685800"/>
          </a:xfrm>
          <a:prstGeom prst="rect">
            <a:avLst/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9848" y="475488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53896" y="4754880"/>
            <a:ext cx="9747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 n°1 : </a:t>
            </a:r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 de trafic payant tant que produits, pages sociales et prise de commande ne sont pas prêts.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MÉTHODE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006194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 LIRE CE DOCUMENT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Faits, hypothèses et recommandations sont séparés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2011680"/>
            <a:ext cx="25237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231136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AF6D6"/>
          </a:solidFill>
          <a:ln w="9525">
            <a:solidFill>
              <a:srgbClr val="CFE8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231136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3F6B0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272491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Observé et sourcé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127248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 publiée par une source identifiée (étude, page publique). Date de relevé indiquée.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02152" y="2011680"/>
            <a:ext cx="25237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1608" y="2231136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F6ECD6"/>
          </a:solidFill>
          <a:ln w="9525">
            <a:solidFill>
              <a:srgbClr val="E6D3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21608" y="2231136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7A5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HYPOTHÈSE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721608" y="272491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vérifier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721608" y="3127248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Estimation de prestataire ou supposition métier. Ne sert pas de base de décision sans test.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0488" y="2011680"/>
            <a:ext cx="25237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9944" y="2231136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231136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72491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Recommandation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127248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je propose de faire, avec la raison. Tu peux la refuser.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878824" y="2011680"/>
            <a:ext cx="252374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2231136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1E2C38"/>
          </a:solidFill>
          <a:ln w="9525">
            <a:solidFill>
              <a:srgbClr val="1E2C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98280" y="2231136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272491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trancher par toi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3127248"/>
            <a:ext cx="2084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Choix business qui conditionne la suite : prix, cible, budget, plateforme.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3816" y="4526280"/>
            <a:ext cx="3401568" cy="1325880"/>
          </a:xfrm>
          <a:prstGeom prst="roundRect">
            <a:avLst>
              <a:gd name="adj" fmla="val 6897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3272" y="46908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PRIX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" y="498348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prix de vente sont fixés par toi. Le document ne donne que des repères de marché observés.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98264" y="4526280"/>
            <a:ext cx="3401568" cy="1325880"/>
          </a:xfrm>
          <a:prstGeom prst="roundRect">
            <a:avLst>
              <a:gd name="adj" fmla="val 6897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17720" y="46908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DONNÉES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498348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chiffre de marché inventé. Prix observé ≠ prix vendu ; signal ≠ vente.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982712" y="4526280"/>
            <a:ext cx="3401568" cy="1325880"/>
          </a:xfrm>
          <a:prstGeom prst="roundRect">
            <a:avLst>
              <a:gd name="adj" fmla="val 6897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2168" y="46908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BUDGET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02168" y="498348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fourchette budgétaire a un rôle (apprendre, valider, scaler), jamais une garantie de résultat.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143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C3DC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24028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Centralisation de l'existant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3816" y="3246120"/>
            <a:ext cx="1399032" cy="0"/>
          </a:xfrm>
          <a:prstGeom prst="line">
            <a:avLst/>
          </a:prstGeom>
          <a:noFill/>
          <a:ln w="19050">
            <a:solidFill>
              <a:srgbClr val="3E88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3474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contiennent déjà Planning, le site et les assets — et ce qui manque encore.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" y="443484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443484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INVENTAIRE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4288" y="4434840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04288" y="4434840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92347" y="4434840"/>
            <a:ext cx="943661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92347" y="4434840"/>
            <a:ext cx="9436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ÉCARTS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73168" y="4434840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4434840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MANQUANTS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006194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INVENTAIRE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existe déjà et ce qu'on en réutilise</a:t>
            </a:r>
            <a:endParaRPr lang="en-US" sz="3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965960"/>
          <a:ext cx="1057046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2194560"/>
                <a:gridCol w="2432304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ÉLÉMENT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CONTENU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ÉTAT CONSTATÉ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RÉUTILISATION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Planning/PLAN-COMPLET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Études Ipsos, ANRT, DataReportal ; prix observés Jumia, Marjane, Electroplanet, SHEIN ; règle de preuve A/B/C/D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Solide, sourcé (sept. 2026)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Chiffres marché, règle de preuve, protocole de benchmark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Planning/master_plan V3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Vision, univers produits, architecture, KPI, analyse Avito (t-shirts en 3 segments), Jumia, streetwear marocain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Solide ; périmètre large (électronique incluse)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KPI, segments de prix mode, architecture storefront / back-office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Planning/roadmap 1re vente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jours : 1 produit, Instagram + WhatsApp, COD, Reel, petit test Ads, rôle de Hakim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 d'action ; exécution non documentée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Séquence « vendre avant la plateforme », checklist de publication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Scrapping/master_plan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Architecture de veille (n8n / Python), pipeline, scoring, rapports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Conception, pas de code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Hors chemin critique : à reprendre après les premières ventes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Site (HTML/CSS/JS)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One-page vitrine statique, formulaire → WhatsApp, animations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Prototype visuel, aucune fonction e-commerce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 de sections, bouton WhatsApp ; contenus à revoir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assets/tshirts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photos fournisseur 959×1280 + sauvegarde WhatsApp Web (≈ 38 Mo)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Photos avec logos de marques tierces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 pas publier ; retirer la sauvegarde du dépôt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006194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DÉJÀ DÉCIDÉ DANS PLANNING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Neuf décisions déjà prises, reprises telles quelles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2011680"/>
            <a:ext cx="34015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MARCHÉ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276856" y="21762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PLAN-COMPLET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24688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Maroc uniquement pour la décision commerciale.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98264" y="2011680"/>
            <a:ext cx="34015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861304" y="21762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Plan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688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sélection courte, pas un catalogue géant.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82712" y="2011680"/>
            <a:ext cx="34015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02168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MARQUES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445752" y="21762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Plan · Roadmap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202168" y="24688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 logo, aucun design copié d'une marque connue.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3816" y="3310128"/>
            <a:ext cx="34015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33272" y="3474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SÉQUENCE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276856" y="347472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1re vente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37673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Vendre d'abord via Instagram + WhatsApp ; plateforme en parallèle.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398264" y="3310128"/>
            <a:ext cx="34015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3474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PAIEMENT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861304" y="347472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1re vente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37673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Paiement à la livraison par défaut + confirmation avant envoi.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982712" y="3310128"/>
            <a:ext cx="34015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02168" y="3474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PRIX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445752" y="347472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1re vente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202168" y="37673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Prix affiché dans les contenus, pas « prix en DM ».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13816" y="4608576"/>
            <a:ext cx="34015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3272" y="4773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MÉTHODE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276856" y="47731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Plan · Roadmap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" y="5065776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→ mesure → décision ; une seule variable changée à la fois.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398264" y="4608576"/>
            <a:ext cx="34015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17720" y="4773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SCRAPER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861304" y="47731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1re vente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617720" y="5065776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Utile, mais hors du chemin critique de la première vente.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982712" y="4608576"/>
            <a:ext cx="34015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02168" y="4773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SOURCING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445752" y="47731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1re vente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202168" y="5065776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Hakim repère et achète chez les grossistes de Qri3a.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006194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ÉCARTS À CORRIGER AVANT TOUT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écarts entre le site actuel et les décisions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2011680"/>
            <a:ext cx="3401568" cy="1810512"/>
          </a:xfrm>
          <a:prstGeom prst="roundRect">
            <a:avLst>
              <a:gd name="adj" fmla="val 5051"/>
            </a:avLst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194560"/>
            <a:ext cx="1660550" cy="310896"/>
          </a:xfrm>
          <a:prstGeom prst="roundRect">
            <a:avLst>
              <a:gd name="adj" fmla="val 50000"/>
            </a:avLst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194560"/>
            <a:ext cx="1660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9A33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RISQUE MAJEUR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2596896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Marques de luxe sur le site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926080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100 % authentique », Gucci, Dior, Prada… et photos fournisseur avec logos Dior / Amiri. Contredit la décision « aucun logo » ; Meta refuse les pubs de contrefaçons et répliques.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98264" y="2011680"/>
            <a:ext cx="3401568" cy="1810512"/>
          </a:xfrm>
          <a:prstGeom prst="roundRect">
            <a:avLst>
              <a:gd name="adj" fmla="val 5051"/>
            </a:avLst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194560"/>
            <a:ext cx="943661" cy="310896"/>
          </a:xfrm>
          <a:prstGeom prst="roundRect">
            <a:avLst>
              <a:gd name="adj" fmla="val 50000"/>
            </a:avLst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2194560"/>
            <a:ext cx="9436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9A33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RISQUE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596896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Preuves sociales non vérifiées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926080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témoignages nominatifs, « Depuis 2010 », « 500+ références ». Rien dans le projet ne les documente : n'afficher que du vérifiable.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82712" y="2011680"/>
            <a:ext cx="3401568" cy="1810512"/>
          </a:xfrm>
          <a:prstGeom prst="roundRect">
            <a:avLst>
              <a:gd name="adj" fmla="val 5051"/>
            </a:avLst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02168" y="2194560"/>
            <a:ext cx="943661" cy="310896"/>
          </a:xfrm>
          <a:prstGeom prst="roundRect">
            <a:avLst>
              <a:gd name="adj" fmla="val 50000"/>
            </a:avLst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02168" y="2194560"/>
            <a:ext cx="9436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9A33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RISQUE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02168" y="2596896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 privées dans git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202168" y="2926080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sauvegarde de conversations WhatsApp Web (≈ 38 Mo) est commitée dans le dépôt. À retirer, et purger l'historique si le dépôt est partagé.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" y="3950208"/>
            <a:ext cx="340156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3272" y="4133088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3272" y="413308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À TRANCHER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33272" y="453542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 produit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1033272" y="4864608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Master Plan couvre électronique + électroménager + mode. Cette roadmap se concentre sur les vêtements : à confirmer.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98264" y="3950208"/>
            <a:ext cx="340156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4133088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413308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À TRANCHER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453542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Cible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4864608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site parle « hommes et femmes » ; le Master Plan vise la mode homme.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82712" y="3950208"/>
            <a:ext cx="340156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02168" y="4133088"/>
            <a:ext cx="1455725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2168" y="4133088"/>
            <a:ext cx="14557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À COMPLÉTER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02168" y="453542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Comptes sociaux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8202168" y="4864608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Liens Instagram / Facebook génériques dans le code ; @hakim_almouallim non vérifié.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006194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MANQUANTS ET HYPOTHÈSES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manque pour décider, et comment le vérifier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2011680"/>
            <a:ext cx="5193792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2128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MANQUE — À PRODUIRE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5603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et identité de marque validés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Comptes Instagram / Facebook / WhatsApp Business : existence, audience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produits + fournisseurs + coûts d'achat réels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Photos et vidéos propres, produits portés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 des tailles mesuré à plat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Politique livraison / échange / retour écrite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Transporteur choisi (frais, délais, reversement COD)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social chiffré de 10–15 comptes concurrents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Statut juridique et facturation (à valider avec un comptable)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2011680"/>
            <a:ext cx="5193792" cy="3749040"/>
          </a:xfrm>
          <a:prstGeom prst="roundRect">
            <a:avLst>
              <a:gd name="adj" fmla="val 2439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22128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7A5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HYPOTHÈSES — À VÉRIFIER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 qualité justifie un prix au-dessus du basique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8254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vérifier par : taux de conversion en test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3182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Cible principale : homme urbain 18–35 ans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34472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vérifier par : données d'audience des Ads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3803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Refus COD de 15 à 25 % (estimation prestataire)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28232" y="4069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vérifier par : taux de refus réel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44256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CPM Meta de 30 à 60 MAD (estimations d'agences)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46908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vérifier par : coûts du micro-test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5047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Hakim peut réassortir en quelques jours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5312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vérifier par : un premier réassort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143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C3DC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24028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Marché &amp; benchmark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3816" y="3246120"/>
            <a:ext cx="1399032" cy="0"/>
          </a:xfrm>
          <a:prstGeom prst="line">
            <a:avLst/>
          </a:prstGeom>
          <a:noFill/>
          <a:ln w="19050">
            <a:solidFill>
              <a:srgbClr val="3E88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3474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Compléter les études existantes par un relevé actuel des acteurs de la mode en ligne au Maroc.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" y="44348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44348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CHIFFRES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99462" y="44348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99462" y="44348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ACTEURS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82696" y="4434840"/>
            <a:ext cx="1660550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82696" y="4434840"/>
            <a:ext cx="1660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QUI MARCHE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80406" y="4434840"/>
            <a:ext cx="1455725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80406" y="4434840"/>
            <a:ext cx="14557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NOTRE ANGLE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006194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MARCHÉ EN CHIFFRES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marché en ligne réel, piloté par le social et le COD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2011680"/>
            <a:ext cx="2523744" cy="27432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2128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AF6D6"/>
          </a:solidFill>
          <a:ln w="9525">
            <a:solidFill>
              <a:srgbClr val="CFE8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2128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3F6B0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265176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10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4290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personnes au Maroc font des achats en ligne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1148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Ipsos Spotlight Maroc · nov.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02152" y="2011680"/>
            <a:ext cx="2523744" cy="27432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21608" y="22128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AF6D6"/>
          </a:solidFill>
          <a:ln w="9525">
            <a:solidFill>
              <a:srgbClr val="CFE8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21608" y="22128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3F6B0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721608" y="265176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+453 000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3721608" y="34290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utilisateurs du commerce en ligne en 2023 vs 2022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721608" y="41148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ANRT · Enquête TIC 2023–2024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0488" y="2011680"/>
            <a:ext cx="2523744" cy="27432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2128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AF6D6"/>
          </a:solidFill>
          <a:ln w="9525">
            <a:solidFill>
              <a:srgbClr val="CFE8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2128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3F6B0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65176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13,1 M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34290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 publicitaire Instagram (21,3 M Facebook)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41148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DataReportal · début 2025 · audience pub ≠ utilisateurs actifs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78824" y="2011680"/>
            <a:ext cx="2523744" cy="27432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2212848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6ECD6"/>
          </a:solidFill>
          <a:ln w="9525">
            <a:solidFill>
              <a:srgbClr val="E6D3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98280" y="221284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7A5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À VÉRIFIER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265176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83,8 %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34290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acheteurs en ligne paient à la livraison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41148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Chiffre attribué à l'ANRT par un prestataire logistique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" y="4983480"/>
            <a:ext cx="10570464" cy="731520"/>
          </a:xfrm>
          <a:prstGeom prst="rect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" y="4983480"/>
            <a:ext cx="45720" cy="731520"/>
          </a:xfrm>
          <a:prstGeom prst="rect">
            <a:avLst/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69848" y="4983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453896" y="4983480"/>
            <a:ext cx="9747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 : </a:t>
            </a:r>
            <a:pPr indent="0" marL="0">
              <a:buNone/>
            </a:pPr>
            <a:r>
              <a:rPr lang="en-US" sz="13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pages de réseaux sociaux font partie des canaux d'achat les plus utilisés (Ipsos). Instagram + Facebook + paiement à la livraison sont donc le point de départ, pas une option.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006194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CARTOGRAPHIE DES ACTEURS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place libre : qualité visible, identité propre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69494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2194560"/>
            <a:ext cx="6217920" cy="3063240"/>
          </a:xfrm>
          <a:prstGeom prst="rect">
            <a:avLst/>
          </a:prstGeom>
          <a:solidFill>
            <a:srgbClr val="FAF7F0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34256" y="2194560"/>
            <a:ext cx="0" cy="3063240"/>
          </a:xfrm>
          <a:prstGeom prst="line">
            <a:avLst/>
          </a:prstGeom>
          <a:noFill/>
          <a:ln w="9525">
            <a:solidFill>
              <a:srgbClr val="E4DC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726180"/>
            <a:ext cx="6217920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16736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Prix plus élevé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4983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Prix d'entrée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5312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Générique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614416" y="5312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Identité de marque →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37176" y="28803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AF6D6"/>
          </a:solidFill>
          <a:ln w="9525">
            <a:solidFill>
              <a:srgbClr val="CFE8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82896" y="2953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Mode — zone visée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82896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6B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qualité prouvée · sans logos tiers · prix fixé par toi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481328" y="4581144"/>
            <a:ext cx="128016" cy="128016"/>
          </a:xfrm>
          <a:prstGeom prst="ellipse">
            <a:avLst/>
          </a:prstGeom>
          <a:solidFill>
            <a:srgbClr val="3E88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55064" y="45354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Vendeurs Avito « gros » (20–25 DH)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12848" y="4213555"/>
            <a:ext cx="128016" cy="128016"/>
          </a:xfrm>
          <a:prstGeom prst="ellipse">
            <a:avLst/>
          </a:prstGeom>
          <a:solidFill>
            <a:srgbClr val="3E88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86584" y="4167835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Génériques marketplace (Jumia)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75888" y="4581144"/>
            <a:ext cx="128016" cy="128016"/>
          </a:xfrm>
          <a:prstGeom prst="ellipse">
            <a:avLst/>
          </a:prstGeom>
          <a:solidFill>
            <a:srgbClr val="3E88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49624" y="45354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de masse (Marwa, Kiabi, LCW, Defacto)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75888" y="3355848"/>
            <a:ext cx="128016" cy="128016"/>
          </a:xfrm>
          <a:prstGeom prst="ellipse">
            <a:avLst/>
          </a:prstGeom>
          <a:solidFill>
            <a:srgbClr val="9A332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52728" y="33101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33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Comptes « marques revendiquées » — risque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50608" y="2436876"/>
            <a:ext cx="128016" cy="128016"/>
          </a:xfrm>
          <a:prstGeom prst="ellipse">
            <a:avLst/>
          </a:prstGeom>
          <a:solidFill>
            <a:srgbClr val="3E88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27448" y="23911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Enseignes internationales (Mango, Zara)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81928" y="4152290"/>
            <a:ext cx="128016" cy="128016"/>
          </a:xfrm>
          <a:prstGeom prst="ellipse">
            <a:avLst/>
          </a:prstGeom>
          <a:solidFill>
            <a:srgbClr val="3E88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58768" y="410657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Streetwear marocain (Thunder, MARoco…)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225296" y="55321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Positions : lecture qualitative des pages publiques, pas une mesure.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991856" y="2057400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bas du marché est saturé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7991856" y="2395728"/>
            <a:ext cx="3392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Basique en gros, génériques et soldes à -50/-70 % : impossible d'y gagner sur le prix.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991856" y="3319272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« faux luxe » est un piège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7991856" y="3657600"/>
            <a:ext cx="3392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Fréquent sur Avito et Instagram, mais refusé par Meta Ads et risqué juridiquement.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991856" y="4581144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place libre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7991856" y="4919472"/>
            <a:ext cx="3392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Qualité démontrée + identité propre, comme le streetwear marocain qui monte (TelQuel, 2024).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006194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— RELEVÉS PUBLICS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montrent réellement les concurrents</a:t>
            </a:r>
            <a:endParaRPr lang="en-US" sz="3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965960"/>
          <a:ext cx="1057046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91640"/>
                <a:gridCol w="2743200"/>
                <a:gridCol w="2560320"/>
                <a:gridCol w="2157984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ACTEUR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PRIX OBSERVÉS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LIVRAISON / PAIEMENT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CONFIANCE / OFFRE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Avito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C2C / revendeurs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T-shirt : gros 20–25 DH · streetwear 70–300 DH · « original » 399–500 DH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propre, à négocier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Prix affiché ; marques « authentiques » fréquentes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Marwa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Enseigne marocaine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T-shirts 79–129 MAD ; soldes 39–49 MAD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 relevé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Soldes fortes et fréquentes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Kiabi Maroc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Enseigne internationale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T-shirts homme 50–295 DH ; « jusqu'à -70 % »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Magasins + e-shop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Tailles XXS → 7XL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LC Waikiki Maroc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Enseigne internationale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 relevé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 MAD Casablanca / 39 MAD autres villes ; seuil gratuit cité 399 MAD (sources divergentes)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Retour 30 j produit défectueux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Lee Cooper Maroc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Marque denim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T-shirt oversize (prix non relevé)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DH sous 500 DH, gratuit au-delà (résumé moteur)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MARoco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Marque marocaine (diaspora)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24,90–64 € ; prix barrés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International, cartes, PayPal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 4/5 Etsy/Trustpilot affichée ; « +2500 créations »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Jumia</a:t>
                      </a:r>
                      <a:endParaRPr lang="en-US" sz="10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Marketplace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 9 900 t-shirts homme listés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COD, tout le Maroc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Avis et notes produits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3816" y="5833872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FAIT (relevé) · pages publiques et résumés de moteur de recherche, oct. 2026 · prix observé ≠ prix vendu · à recapturer avant toute décision de prix.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006194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QUI FONCTIONNE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mécanismes qui marchent, et pourquoi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2011680"/>
            <a:ext cx="34015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212848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21284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27048" y="22311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Prix visible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706624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Filtre l'intention d'achat et évite les échanges sans fin en DM.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34747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Pratique Avito · Roadmap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98264" y="2011680"/>
            <a:ext cx="34015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212848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21284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11496" y="22311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 + confirmation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706624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Rassure pour un premier achat. Un appel avant envoi réduit les refus (−30 à −50 % selon prestataires : à vérifier).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4747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Prestataires logistiques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82712" y="2011680"/>
            <a:ext cx="34015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02168" y="2212848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02168" y="221284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95944" y="22311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Vidéo portée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202168" y="2706624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Montre le tombé, la matière, la taille : ce qu'une photo fournisseur ne montre pas.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02168" y="34747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Formats Reels / Stories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" y="3931920"/>
            <a:ext cx="34015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3272" y="4133088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3272" y="413308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527048" y="41513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Seuil de livraison gratuite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" y="4626864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Pousse le panier moyen vers 2 articles ou plus.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" y="539496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Kiabi, LCW, Lee Cooper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98264" y="3931920"/>
            <a:ext cx="34015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4133088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17720" y="413308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111496" y="41513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Identité locale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4617720" y="4626864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streetwear marocain se différencie sans copier les grandes marques.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617720" y="539496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TelQuel, 2024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82712" y="3931920"/>
            <a:ext cx="34015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02168" y="4133088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02168" y="413308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695944" y="41513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Preuve sociale réelle</a:t>
            </a:r>
            <a:endParaRPr lang="en-US" sz="1550" dirty="0"/>
          </a:p>
        </p:txBody>
      </p:sp>
      <p:sp>
        <p:nvSpPr>
          <p:cNvPr id="40" name="Text 38"/>
          <p:cNvSpPr txBox="1"/>
          <p:nvPr/>
        </p:nvSpPr>
        <p:spPr>
          <a:xfrm>
            <a:off x="8202168" y="4626864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Avis, photos clients, commandes livrées : la confiance vient des autres clients.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02168" y="539496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MARoco, Jumia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006194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ERREURS FRÉQUENTES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faiblesses des concurrents sont nos opportunités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2011680"/>
            <a:ext cx="519379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231136"/>
            <a:ext cx="356616" cy="356616"/>
          </a:xfrm>
          <a:prstGeom prst="ellipse">
            <a:avLst/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23113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33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63624" y="22311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Photos fournisseur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563624" y="2578608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Mêmes visuels chez dix vendeurs : aucune raison de choisir l'un plutôt que l'autre.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88" y="2011680"/>
            <a:ext cx="519379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9944" y="2231136"/>
            <a:ext cx="356616" cy="356616"/>
          </a:xfrm>
          <a:prstGeom prst="ellipse">
            <a:avLst/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9944" y="223113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33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40296" y="22311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Prix en DM »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940296" y="2578608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Friction, perte de prospects, impression de prix variable selon le client.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" y="3273552"/>
            <a:ext cx="519379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3272" y="3493008"/>
            <a:ext cx="356616" cy="356616"/>
          </a:xfrm>
          <a:prstGeom prst="ellipse">
            <a:avLst/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3272" y="349300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33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563624" y="3493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Logos et « authentique » non prouvé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563624" y="3840480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Pubs refusées par Meta, comptes restreints, risque juridique.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0488" y="3273552"/>
            <a:ext cx="519379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9944" y="3493008"/>
            <a:ext cx="356616" cy="356616"/>
          </a:xfrm>
          <a:prstGeom prst="ellipse">
            <a:avLst/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349300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33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40296" y="3493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de guide des tailles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940296" y="3840480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Mauvaises tailles → échanges, refus à la livraison, avis négatifs.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" y="4535424"/>
            <a:ext cx="519379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3272" y="4754880"/>
            <a:ext cx="356616" cy="356616"/>
          </a:xfrm>
          <a:prstGeom prst="ellipse">
            <a:avLst/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3272" y="475488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33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563624" y="47548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Promotions permanentes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1563624" y="5102352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−70 % toute l'année » : le prix de référence perd toute crédibilité.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0488" y="4535424"/>
            <a:ext cx="519379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9944" y="4754880"/>
            <a:ext cx="356616" cy="356616"/>
          </a:xfrm>
          <a:prstGeom prst="ellipse">
            <a:avLst/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9944" y="475488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33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40296" y="47548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Trafic payant vers une page vide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6940296" y="5102352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 sans contenu ni avis : le clic coûte, la commande ne vient pas.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006194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NOTRE ANGLE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qualité ne se dit pas : elle se prouve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1965960"/>
            <a:ext cx="1057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Notre avantage potentiel est la qualité des vêtements. Sur Instagram, tout le monde écrit « qualité premium » : il faut la rendre visible et vérifiable.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3816" y="2697480"/>
            <a:ext cx="1645920" cy="1874520"/>
          </a:xfrm>
          <a:prstGeom prst="roundRect">
            <a:avLst>
              <a:gd name="adj" fmla="val 5556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" y="2880360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6696" y="288036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96696" y="33375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Composition &amp; grammage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96696" y="38587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Affichés sur chaque fiche et chaque post produit.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96896" y="2697480"/>
            <a:ext cx="1645920" cy="18745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9776" y="2880360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79776" y="288036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79776" y="33375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 plans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779776" y="38587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Tissu, coutures, col, étiquette : en photo et en vidéo.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9976" y="2697480"/>
            <a:ext cx="1645920" cy="18745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2880360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62856" y="288036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62856" y="33375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Porté réel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62856" y="38587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Vidéo sur 2 morphologies, taille portée indiquée.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63056" y="2697480"/>
            <a:ext cx="1645920" cy="18745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45936" y="2880360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45936" y="288036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45936" y="33375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 des tailles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345936" y="38587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Mesuré à plat sur le vrai produit, en cm.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46136" y="2697480"/>
            <a:ext cx="1645920" cy="18745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29016" y="2880360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29016" y="288036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129016" y="33375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lavage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129016" y="38587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/ après plusieurs lavages, montré en Reel.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29216" y="2697480"/>
            <a:ext cx="1645920" cy="18745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12096" y="2880360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12096" y="288036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912096" y="33375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Échange de taille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9912096" y="38587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 simple, écrite, visible avant l'achat.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3816" y="4846320"/>
            <a:ext cx="10570464" cy="868680"/>
          </a:xfrm>
          <a:prstGeom prst="rect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" y="4846320"/>
            <a:ext cx="45720" cy="868680"/>
          </a:xfrm>
          <a:prstGeom prst="rect">
            <a:avLst/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9848" y="48463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453896" y="4846320"/>
            <a:ext cx="9747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Prix : décision à toi. </a:t>
            </a:r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Repères de marché observés, non prescriptifs : streetwear / personnalisé 70–300 DH (Avito), retail de masse 50–295 DH (Kiabi, Marwa). Calcule ensuite ton CPA maximal à partir du prix choisi (slide Ads).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143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C3DC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24028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de lancement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3816" y="3246120"/>
            <a:ext cx="1399032" cy="0"/>
          </a:xfrm>
          <a:prstGeom prst="line">
            <a:avLst/>
          </a:prstGeom>
          <a:noFill/>
          <a:ln w="19050">
            <a:solidFill>
              <a:srgbClr val="3E88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3474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douze questions clés, l'ordre des dépendances et la structure des phases.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" y="4434840"/>
            <a:ext cx="1455725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4434840"/>
            <a:ext cx="14557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RÉPONSES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06701" y="4434840"/>
            <a:ext cx="1455725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06701" y="4434840"/>
            <a:ext cx="14557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DÉPENDANCES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99586" y="4434840"/>
            <a:ext cx="943661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99586" y="4434840"/>
            <a:ext cx="9436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80406" y="443484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80406" y="443484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CALENDRIER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STRATÉGIE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211019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RÉPONSES · 1/2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qu'on vend, à qui, et comment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vend-on 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42816" y="196596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à 6 pièces de base de bonne qualité (t-shirts, ensembles…), sans logos tiers ; collection courte, réassortie.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425989" y="208483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5989" y="2084832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" y="260604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3272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qui 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42816" y="260604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confirmer : homme urbain 18–35 ans, sensible au style, déçu par la qualité du bas de gamme.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13925" y="2724912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F6ECD6"/>
          </a:solidFill>
          <a:ln w="9525">
            <a:solidFill>
              <a:srgbClr val="E6D3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13925" y="2724912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7A5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HYPOTHÈSE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" y="324612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présenter 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42816" y="324612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Porté réel, gros plans matière, composition, guide des tailles, prix affiché.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425989" y="336499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25989" y="3364992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3816" y="388620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3272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construire la confiance 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42816" y="388620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COD, échange de taille, coordonnées réelles, avis de vrais clients, Hakim et toi visibles.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25989" y="400507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25989" y="4005072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" y="452628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3272" y="4526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Premiers clients 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242816" y="452628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Réseau proche + groupes WhatsApp, puis micro-tests Ads vers WhatsApp / Instagram.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5989" y="464515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25989" y="4645152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3816" y="516636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33272" y="5166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Quels canaux 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42816" y="516636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Instagram (vitrine + Reels), Facebook (Ads, audience plus large), WhatsApp (vente), site (commande).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425989" y="528523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425989" y="5285232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STRATÉGIE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211019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RÉPONSES · 2/2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Contenu, Ads, budget et pilotage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 contenu 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42816" y="196596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Reels produit portés, carrousels détail + prix, Stories coulisses, avis clients.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425989" y="208483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5989" y="2084832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" y="260604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3272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commencer les Ads 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42816" y="260604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la checklist « prêt pour Ads » est complète : produits en main, 12 posts, prise de commande.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425989" y="272491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25989" y="2724912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" y="324612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 budget 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42816" y="324612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Micro-test 1 000–2 000 MAD, validation 4 000–8 000 MAD/mois ; plafond fixé par toi.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16338" y="3364992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1E2C38"/>
          </a:solidFill>
          <a:ln w="9525">
            <a:solidFill>
              <a:srgbClr val="1E2C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16338" y="3364992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3816" y="388620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3272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mesurer 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42816" y="388620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Commandes confirmées et livrées, CPA, taux de refus, conversion, panier moyen.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25989" y="400507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25989" y="4005072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" y="452628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3272" y="4526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augmenter 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242816" y="452628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CPA réel ≤ CPA maximal sur au moins 10 commandes livrées, stock suffisant.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5989" y="464515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25989" y="4645152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3816" y="5166360"/>
            <a:ext cx="1057046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33272" y="5166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changer 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42816" y="516636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2 cycles de tests sans CPA viable : revoir produit, offre ou prix avant le budget.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425989" y="528523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425989" y="5285232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STRATÉGIE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211019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DÉPENDANCES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étape conditionne la suivante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2103120"/>
            <a:ext cx="978408" cy="100584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" y="2176272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95728"/>
            <a:ext cx="832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Produits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92224" y="2103120"/>
            <a:ext cx="220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8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2823" y="2103120"/>
            <a:ext cx="978408" cy="100584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4263" y="2176272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85975" y="2395728"/>
            <a:ext cx="832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Contenu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91231" y="2103120"/>
            <a:ext cx="220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8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1830" y="2103120"/>
            <a:ext cx="978408" cy="100584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03270" y="2176272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84982" y="2395728"/>
            <a:ext cx="832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Réseaux sociaux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190238" y="2103120"/>
            <a:ext cx="220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8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10837" y="2103120"/>
            <a:ext cx="978408" cy="100584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02277" y="2176272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83989" y="2395728"/>
            <a:ext cx="832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Commande WhatsApp + COD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89245" y="2103120"/>
            <a:ext cx="220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8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09844" y="2103120"/>
            <a:ext cx="978408" cy="100584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01284" y="2176272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82996" y="2395728"/>
            <a:ext cx="832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Micro-test Ads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88252" y="2103120"/>
            <a:ext cx="220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8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08851" y="2103120"/>
            <a:ext cx="978408" cy="1005840"/>
          </a:xfrm>
          <a:prstGeom prst="roundRect">
            <a:avLst>
              <a:gd name="adj" fmla="val 9346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0291" y="2176272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882003" y="2395728"/>
            <a:ext cx="832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Site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787259" y="2103120"/>
            <a:ext cx="220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8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07858" y="2103120"/>
            <a:ext cx="978408" cy="1005840"/>
          </a:xfrm>
          <a:prstGeom prst="roundRect">
            <a:avLst>
              <a:gd name="adj" fmla="val 9346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99298" y="2176272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081010" y="2395728"/>
            <a:ext cx="832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986266" y="2103120"/>
            <a:ext cx="220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8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206865" y="2103120"/>
            <a:ext cx="978408" cy="1005840"/>
          </a:xfrm>
          <a:prstGeom prst="roundRect">
            <a:avLst>
              <a:gd name="adj" fmla="val 9346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98305" y="2176272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80017" y="2395728"/>
            <a:ext cx="832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185273" y="2103120"/>
            <a:ext cx="220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8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405872" y="2103120"/>
            <a:ext cx="978408" cy="1005840"/>
          </a:xfrm>
          <a:prstGeom prst="roundRect">
            <a:avLst>
              <a:gd name="adj" fmla="val 9346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97312" y="2176272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479024" y="2395728"/>
            <a:ext cx="832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Optimisation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298448" y="3310128"/>
            <a:ext cx="9601200" cy="0"/>
          </a:xfrm>
          <a:prstGeom prst="line">
            <a:avLst/>
          </a:prstGeom>
          <a:noFill/>
          <a:ln w="12700">
            <a:solidFill>
              <a:srgbClr val="3E88B5"/>
            </a:solidFill>
            <a:prstDash val="dash"/>
            <a:headEnd type="triangle"/>
          </a:ln>
        </p:spPr>
      </p:sp>
      <p:sp>
        <p:nvSpPr>
          <p:cNvPr id="42" name="Text 40"/>
          <p:cNvSpPr txBox="1"/>
          <p:nvPr/>
        </p:nvSpPr>
        <p:spPr>
          <a:xfrm>
            <a:off x="813816" y="3383280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boucle : les données de vente décident du prochain produit, du prochain contenu, du prochain budget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13816" y="3840480"/>
            <a:ext cx="340156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33272" y="404164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CHEMIN CRITIQUE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33272" y="4334256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Produits en main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033272" y="4736592"/>
            <a:ext cx="29626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Sans produit contrôlé et coûté, pas de photo, pas de prix, pas de contenu, donc pas d'Ads.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398264" y="3840480"/>
            <a:ext cx="340156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617720" y="404164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 CET ORDRE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617720" y="4334256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Apprendre à petit coût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4617720" y="4736592"/>
            <a:ext cx="29626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micro-tests avant le site disent quels produits et quels messages vendent, avant d'investir dans la construction du site.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982712" y="3840480"/>
            <a:ext cx="3401568" cy="1920240"/>
          </a:xfrm>
          <a:prstGeom prst="roundRect">
            <a:avLst>
              <a:gd name="adj" fmla="val 4762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02168" y="4041648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 PARALLÈLE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202168" y="4334256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et scraper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8202168" y="4736592"/>
            <a:ext cx="29626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site se construit pendant les phases 3–4. Le scraper attend les premières ventes.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STRATÉGIE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211019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ADAPTÉE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Dix phases, dont deux ajustées par l'analyse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6696" y="21579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Centralisation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96696" y="2999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Existant, décisions, écarts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62656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45536" y="21579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145536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Marché &amp; positionnement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145536" y="2999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Benchmark, angle, cible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11496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4376" y="21579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Offre &amp; produits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294376" y="2999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Ajoutée : sourcing, contrôle, coûts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60336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43216" y="21579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43216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Marque &amp; réseaux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2999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Instagram, Facebook, WhatsApp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09176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92056" y="21579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592056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Ads : stratégie + micro-tests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592056" y="2999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le site (décision Planning)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" y="36118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6696" y="37581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96696" y="4142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Site e-commerce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96696" y="45994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Commande, COD, back-office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62656" y="36118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45536" y="37581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3145536" y="4142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Direction artistique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145536" y="45994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Refonte visuelle, UX, mobile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11496" y="36118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94376" y="37581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5294376" y="4142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294376" y="45994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Hébergement, domaine, recette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260336" y="36118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43216" y="37581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7443216" y="4142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Lancement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443216" y="45994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en ligne, Ads vers le site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409176" y="36118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592056" y="37581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9592056" y="4142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Optimisation &amp; scaling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9592056" y="45994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Analyse, priorités, budget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13816" y="5349240"/>
            <a:ext cx="10570464" cy="548640"/>
          </a:xfrm>
          <a:prstGeom prst="rect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" y="5349240"/>
            <a:ext cx="45720" cy="548640"/>
          </a:xfrm>
          <a:prstGeom prst="rect">
            <a:avLst/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69848" y="5349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1453896" y="5349240"/>
            <a:ext cx="9747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Ajustements : </a:t>
            </a:r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Offre &amp; produits » devient une phase à part (tout en dépend) ; les micro-tests Ads passent avant le site.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STRATÉGIE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211019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CALENDRIER INDICATIF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 trois mois jusqu'au lancement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3419856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988743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57631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S3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126518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S4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695406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S5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264293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S6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33181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S7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402068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S8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970955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S9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539843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S10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108730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S11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677618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S12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246505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S13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815393" y="1938528"/>
            <a:ext cx="568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S14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3816" y="2212848"/>
            <a:ext cx="1057046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" y="22128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 Centralisation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56432" y="2276856"/>
            <a:ext cx="495735" cy="192024"/>
          </a:xfrm>
          <a:prstGeom prst="roundRect">
            <a:avLst>
              <a:gd name="adj" fmla="val 47619"/>
            </a:avLst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" y="25328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Marché &amp; positionnement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56432" y="2596896"/>
            <a:ext cx="1064623" cy="192024"/>
          </a:xfrm>
          <a:prstGeom prst="roundRect">
            <a:avLst>
              <a:gd name="adj" fmla="val 47619"/>
            </a:avLst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" y="2852928"/>
            <a:ext cx="1057046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5256" y="28529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Offre &amp; produits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25319" y="2916936"/>
            <a:ext cx="1633510" cy="192024"/>
          </a:xfrm>
          <a:prstGeom prst="roundRect">
            <a:avLst>
              <a:gd name="adj" fmla="val 47619"/>
            </a:avLst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5256" y="3172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Marque &amp; réseaux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94207" y="3236976"/>
            <a:ext cx="2202398" cy="192024"/>
          </a:xfrm>
          <a:prstGeom prst="roundRect">
            <a:avLst>
              <a:gd name="adj" fmla="val 47619"/>
            </a:avLst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" y="3493008"/>
            <a:ext cx="1057046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5256" y="34930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Ads : micro-tests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31982" y="3557016"/>
            <a:ext cx="1633510" cy="192024"/>
          </a:xfrm>
          <a:prstGeom prst="roundRect">
            <a:avLst>
              <a:gd name="adj" fmla="val 47619"/>
            </a:avLst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5256" y="3813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Site e-commerce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63094" y="3877056"/>
            <a:ext cx="3340173" cy="192024"/>
          </a:xfrm>
          <a:prstGeom prst="roundRect">
            <a:avLst>
              <a:gd name="adj" fmla="val 47619"/>
            </a:avLst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" y="4133088"/>
            <a:ext cx="1057046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5256" y="41330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Direction artistique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69757" y="4197096"/>
            <a:ext cx="2202398" cy="192024"/>
          </a:xfrm>
          <a:prstGeom prst="roundRect">
            <a:avLst>
              <a:gd name="adj" fmla="val 47619"/>
            </a:avLst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5256" y="44531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Production &amp; recette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76419" y="4517136"/>
            <a:ext cx="1064623" cy="192024"/>
          </a:xfrm>
          <a:prstGeom prst="roundRect">
            <a:avLst>
              <a:gd name="adj" fmla="val 47619"/>
            </a:avLst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" y="4773168"/>
            <a:ext cx="10570464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5256" y="47731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Lancement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714194" y="4837176"/>
            <a:ext cx="495735" cy="192024"/>
          </a:xfrm>
          <a:prstGeom prst="roundRect">
            <a:avLst>
              <a:gd name="adj" fmla="val 47619"/>
            </a:avLst>
          </a:prstGeom>
          <a:solidFill>
            <a:srgbClr val="1E2C38"/>
          </a:solidFill>
          <a:ln w="12700">
            <a:solidFill>
              <a:srgbClr val="1E2C3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5256" y="50932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Optimisation &amp; scaling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283081" y="5157216"/>
            <a:ext cx="1064623" cy="192024"/>
          </a:xfrm>
          <a:prstGeom prst="roundRect">
            <a:avLst>
              <a:gd name="adj" fmla="val 47619"/>
            </a:avLst>
          </a:prstGeom>
          <a:solidFill>
            <a:srgbClr val="C3DCEB"/>
          </a:solidFill>
          <a:ln w="12700">
            <a:solidFill>
              <a:srgbClr val="C3DCE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3816" y="5669280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HYPOTHÈSE · durées indicatives pour une petite équipe à temps partiel ; elles dépendent surtout du sourcing (phase 02) et de ta disponibilité. Chaque passage de phase se fait sur critère, pas sur date.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143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C3DC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24028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Fiches de phase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3816" y="3246120"/>
            <a:ext cx="1399032" cy="0"/>
          </a:xfrm>
          <a:prstGeom prst="line">
            <a:avLst/>
          </a:prstGeom>
          <a:noFill/>
          <a:ln w="19050">
            <a:solidFill>
              <a:srgbClr val="3E88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3474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chaque phase : objectif, actions, raison, prérequis, livrables, décisions et critère de passage.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" y="443484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443484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FONDATIONS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4288" y="4434840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04288" y="4434840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92347" y="4434840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92347" y="4434840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68342" y="4434840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68342" y="4434840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LANCEMENT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CENTRALISATION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seule base de faits et de décisions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331012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23160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Réunir études, décisions, écarts et hypothèses dans un document de référence.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72160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Éviter de refaire les études et de contredire des décisions déjà prises.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QU'IL FAUT FAIRE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59736"/>
            <a:ext cx="35295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Inventaire Planning, Scrapping, site, assets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des décisions déjà prises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Écarts site ↔ décisions (marques, preuves)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Manquants et hypothèses à vérifier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Nettoyage : retirer la sauvegarde WhatsApp du dépôt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85048" y="1965960"/>
            <a:ext cx="2999232" cy="2697480"/>
          </a:xfrm>
          <a:prstGeom prst="roundRect">
            <a:avLst>
              <a:gd name="adj" fmla="val 339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4504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PRÉREQUIS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04504" y="24231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04504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356616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Cette roadmap validée.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 À PRENDRE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Valider les 9 décisions reprises · confirmer le périmètre « vêtements » · acter le retrait des marques tierces.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CRITÈRE DE PASSAGE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relue et validée par toi ; écarts critiques actés.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MARCHÉ &amp; POSITIONNEMENT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Choisir un angle clair avant de produire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331012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23160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Fixer la cible, l'univers de style et le positionnement « qualité prouvée ».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72160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positionnement guide le choix des produits, du contenu, des visuels et des audiences Ads.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QU'IL FAUT FAIRE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59736"/>
            <a:ext cx="35295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social : 10–15 comptes IG/FB (fréquence, formats, prix affichés, CTA, engagement visible)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Relever 20–30 fiches produits concurrentes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Phrase de positionnement + 3 preuves de qualité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Repères de prix observés par type de pièce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de marque : confirmer « H Mode » ou non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85048" y="1965960"/>
            <a:ext cx="2999232" cy="2697480"/>
          </a:xfrm>
          <a:prstGeom prst="roundRect">
            <a:avLst>
              <a:gd name="adj" fmla="val 339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4504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PRÉREQUIS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04504" y="24231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00 validée.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04504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356616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positionnement d'une page · grille de benchmark social.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 À PRENDRE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Cible (homme / mixte, âge) · univers de style · nom de marque.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CRITÈRE DE PASSAGE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Positionnement exprimé en une phrase et validé.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OFFRE &amp; PRODUITS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produits en main, contrôlés, coûtés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331012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23160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Disposer de 3 à 6 pièces contrôlées, avec coûts réels et tailles mesurées.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72160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 dépend du produit : photos, prix, contenu, Ads. C'est le chemin critique.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QU'IL FAUT FAIRE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59736"/>
            <a:ext cx="35295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Hakim : pièces sans logo, critères qualité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Échantillons : grammage, coutures, test lavage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Coût complet : achat + emballage + livraison + refus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 des tailles mesuré à plat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Délai et quantité de réassort par article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Prix de vente fixés par toi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85048" y="1965960"/>
            <a:ext cx="2999232" cy="2697480"/>
          </a:xfrm>
          <a:prstGeom prst="roundRect">
            <a:avLst>
              <a:gd name="adj" fmla="val 339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4504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PRÉREQUIS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04504" y="24231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Positionnement (01).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04504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356616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interne par article : fournisseur, coût, composition, tailles, réassort, prix.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 À PRENDRE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Sélection finale · prix de vente · quantités de départ.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CRITÈRE DE PASSAGE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Coûts réels confirmés, produits en main, prix fixés.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MARQUE &amp; RÉSEAUX SOCIAUX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pages crédibles avant le trafic payant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331012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23160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Rendre Instagram, Facebook et WhatsApp Business prêts à recevoir des visiteurs payants.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72160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visiteur payé qui arrive sur un profil vide ne commande pas : le budget est perdu.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QU'IL FAUT FAIRE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59736"/>
            <a:ext cx="35295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Identité minimale : logo, couleurs, ton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Comptes pro IG + page FB + WhatsApp Business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Bio, liens, highlights, catalogue WhatsApp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Publier 12 posts dont 6 Reels avant les Ads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Premières preuves : avis de l'entourage, coulisses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85048" y="1965960"/>
            <a:ext cx="2999232" cy="2697480"/>
          </a:xfrm>
          <a:prstGeom prst="roundRect">
            <a:avLst>
              <a:gd name="adj" fmla="val 339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4504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PRÉREQUIS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04504" y="24231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Produits en main (02) ; positionnement (01).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04504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356616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 actives · banque de contenus · checklist « prêt pour Ads » complète.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 À PRENDRE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 de marque · visage de la marque (toi, Hakim, mannequin) · politique d'échange affichée.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CRITÈRE DE PASSAGE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« prêt pour Ads » complète à 100 % (slide suivante).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INSTAGRAM &amp; FACEBOOK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les pages doivent montrer avant les Ads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252374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488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PROFIL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2468880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+ photo de marque lisibles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 : quoi, pour qui, livraison, COD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Lien : WhatsApp puis site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Ville + contact réel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2152" y="1965960"/>
            <a:ext cx="2523744" cy="2514600"/>
          </a:xfrm>
          <a:prstGeom prst="roundRect">
            <a:avLst>
              <a:gd name="adj" fmla="val 3636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21488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GRILLE (AVANT ADS)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468880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posts minimum, dont 6 Reels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produit : porté + détail + prix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Composition et tailles en légende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Identité visuelle cohérente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1965960"/>
            <a:ext cx="252374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1656" y="21488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2468880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Commander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Livraison &amp; COD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Tailles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 clients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Qualité / coulisses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78824" y="1965960"/>
            <a:ext cx="252374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9992" y="21488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FACEBOOK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79992" y="2468880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avec mêmes infos et produits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des campagnes Meta Ads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Messenger relié à WhatsApp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 activés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" y="4645152"/>
            <a:ext cx="10570464" cy="1252728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33272" y="47914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CHECKLIST « PRÊT POUR ADS »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33272" y="5102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</a:t>
            </a:r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Produits en main et contrôlés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21024" y="5102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</a:t>
            </a:r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Prix fixés et affichés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08776" y="5102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</a:t>
            </a:r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posts dont 6 Reels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96528" y="5102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</a:t>
            </a:r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highlights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33272" y="54498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</a:t>
            </a:r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Business + catalogue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621024" y="54498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</a:t>
            </a:r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Politique livraison / échange écrite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08776" y="54498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</a:t>
            </a:r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de confirmation des commandes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796528" y="54498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</a:t>
            </a:r>
            <a:pPr indent="0" marL="0">
              <a:buNone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Transporteur prêt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CONTENU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piliers, trois formats, une cadence tenable</a:t>
            </a:r>
            <a:endParaRPr lang="en-US" sz="3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965960"/>
          <a:ext cx="10570464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423160"/>
                <a:gridCol w="2377440"/>
                <a:gridCol w="211226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PILIER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OBJECTIF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REELS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CARROUSELS / POSTS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STORIES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Produit porté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Donner envie, montrer le tombé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Essayage, 2 morphologies, tailles portées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4–5 photos portées + prix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Sondage couleur / taille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Qualité prouvée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Justifier le prix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 plans tissu, test lavage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Composition, grammage, coutures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Questions / réponses matière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Confiance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Lever les freins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Déballage d'une commande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Livraison, COD, échange, tailles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Colis préparés, avis reçus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Coulisses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Humaniser la marque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Hakim chez le grossiste, sélection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Histoire de la marque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Journée type, choix des pièces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Offre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Déclencher l'achat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Nouveauté, réassort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Prix + CTA WhatsApp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Compte à rebours réassort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3816" y="5257800"/>
            <a:ext cx="10570464" cy="566928"/>
          </a:xfrm>
          <a:prstGeom prst="rect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" y="5257800"/>
            <a:ext cx="45720" cy="566928"/>
          </a:xfrm>
          <a:prstGeom prst="rect">
            <a:avLst/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9848" y="52578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53896" y="5257800"/>
            <a:ext cx="9747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Cadence de départ (RECO) : </a:t>
            </a:r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posts dont 2 Reels par semaine + stories quotidiennes. Mieux vaut tenir 3 posts que promettre 7.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STRATÉGIE ADS + MICRO-TESTS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Apprendre ce qui vend, à petit budget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331012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23160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Identifier 1–2 produits et 1–2 créatifs qui génèrent des commandes à un coût acceptable.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72160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Valider la demande avec de l'argent réel avant d'investir dans le site complet (décision Planning).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QU'IL FAUT FAIRE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59736"/>
            <a:ext cx="35295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Manager, compte pub, page, Instagram liés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 du CPA maximal par produit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3–6 créatifs (Reels portés surtout)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Campagne messages vers WhatsApp / Instagram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Suivi quotidien : coût, messages, commandes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Bilan après 10–14 jours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85048" y="1965960"/>
            <a:ext cx="2999232" cy="2697480"/>
          </a:xfrm>
          <a:prstGeom prst="roundRect">
            <a:avLst>
              <a:gd name="adj" fmla="val 339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4504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PRÉREQUIS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04504" y="24231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« prêt pour Ads » (03) ; prix fixés (02).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04504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356616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 de test : créatifs, audiences, CPA, refus, enseignements.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 À PRENDRE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de test · plafond mensuel · produits à pousser.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CRITÈRE DE PASSAGE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Premières commandes livrées et au moins un couple produit × créatif sous le CPA maximal ; sinon, nouveau cycle de test.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ADS PROGRESSIVES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Tester, mesurer, valider, puis seulement scaler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2523744" cy="32004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" y="2148840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4984" y="214884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99616" y="215798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Organique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14984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 MAD Ads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31546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340156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Réseau proche, groupes WhatsApp, premiers avis.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42062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RÔLE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4443984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pages sont prêtes et les premières questions arrivent.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2918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8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02152" y="1965960"/>
            <a:ext cx="2523744" cy="3200400"/>
          </a:xfrm>
          <a:prstGeom prst="roundRect">
            <a:avLst>
              <a:gd name="adj" fmla="val 3623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2148840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03320" y="214884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87952" y="215798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Micro-test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1 000–2 000 MAD · 10–14 j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31546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703320" y="340156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70–150 MAD/jour · 3–6 créatifs · campagne messages ou trafic.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42062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RÔLE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4443984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Savoir quels créatifs et produits font cliquer et écrire.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025896" y="32918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8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90488" y="1965960"/>
            <a:ext cx="2523744" cy="32004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1656" y="2148840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91656" y="214884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76288" y="215798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91656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4 000–8 000 MAD / mois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391656" y="31546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91656" y="340156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Campagne ventes (pixel après le site) · 1–2 audiences gagnantes.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391656" y="42062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RÔLE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91656" y="4443984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Mesurer un CPA réel sur au moins 10 commandes livrées.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714232" y="32918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8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78824" y="1965960"/>
            <a:ext cx="2523744" cy="32004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79992" y="2148840"/>
            <a:ext cx="356616" cy="356616"/>
          </a:xfrm>
          <a:prstGeom prst="ellipse">
            <a:avLst/>
          </a:prstGeom>
          <a:solidFill>
            <a:srgbClr val="1E2C38"/>
          </a:solidFill>
          <a:ln w="9525">
            <a:solidFill>
              <a:srgbClr val="1E2C3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79992" y="214884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564624" y="215798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9079992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+20 à 30 % par palier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079992" y="31546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COMMENT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079992" y="3401568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Hausse tous les 3–4 jours sur ce qui tient le CPA · reciblage 10–20 %.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9079992" y="42062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RÔLE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079992" y="4443984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de commandes au même coût, dans la limite du stock.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13816" y="5349240"/>
            <a:ext cx="10570464" cy="548640"/>
          </a:xfrm>
          <a:prstGeom prst="rect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3816" y="5349240"/>
            <a:ext cx="45720" cy="548640"/>
          </a:xfrm>
          <a:prstGeom prst="rect">
            <a:avLst/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69848" y="5349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1453896" y="5349240"/>
            <a:ext cx="9747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Fourchettes de travail (RECO), pas des garanties. </a:t>
            </a:r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Repère : des agences marocaines citent 4 000–8 000 MAD/mois comme minimum PME (HYPOTHÈSE).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PILOTAGE DES CAMPAGNES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règles écrites pour couper ou augmenter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5193792" cy="1600200"/>
          </a:xfrm>
          <a:prstGeom prst="roundRect">
            <a:avLst>
              <a:gd name="adj" fmla="val 5714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305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CPA MAXIMAL — À CALCULER PAR PRODUIT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505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Prix de vente − coût produit − livraison − emballage − coût moyen des refus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Au-delà de ce montant, chaque commande payée en Ads perd de l'argent. Calculé sur commandes livrées, pas passées.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" y="3730752"/>
            <a:ext cx="519379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38953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AUDIENCES &amp; CRÉATIFS À TESTER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4187952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Audiences : large ciblée Maroc grandes villes · intérêts mode · lookalike clients (dès 100+)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Reciblage : visiteurs, interactions Instagram, messages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Créatifs : Reel porté · gros plan qualité · déballage · carrousel prix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test = une variable : créatif OU audience OU offre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1965960"/>
            <a:ext cx="519379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1656" y="2212848"/>
            <a:ext cx="943661" cy="310896"/>
          </a:xfrm>
          <a:prstGeom prst="roundRect">
            <a:avLst>
              <a:gd name="adj" fmla="val 50000"/>
            </a:avLst>
          </a:prstGeom>
          <a:solidFill>
            <a:srgbClr val="F7E3DF"/>
          </a:solidFill>
          <a:ln w="9525">
            <a:solidFill>
              <a:srgbClr val="E8C3B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1656" y="2212848"/>
            <a:ext cx="94366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9A33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COUPER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699248" y="2020824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Dépense ≥ 2 × CPA max sans commande, ou CTR lien nettement inférieur aux autres créatifs.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0488" y="2880360"/>
            <a:ext cx="519379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3127248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F6ECD6"/>
          </a:solidFill>
          <a:ln w="9525">
            <a:solidFill>
              <a:srgbClr val="E6D3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3127248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7A5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RÉDUIRE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699248" y="2935224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CPA &gt; CPA max 3 jours de suite, ou fréquence &gt; 3 sur audience froide.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90488" y="3794760"/>
            <a:ext cx="519379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91656" y="4041648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91656" y="4041648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5C68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MAINTENIR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699248" y="3849624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CPA proche du max : tester un nouveau créatif avant de toucher au budget.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0488" y="4709160"/>
            <a:ext cx="5193792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1656" y="4956048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EAF6D6"/>
          </a:solidFill>
          <a:ln w="9525">
            <a:solidFill>
              <a:srgbClr val="CFE8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1656" y="4956048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3F6B0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AUGMENTER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699248" y="4764024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CPA ≤ CPA max sur ≥ 10 commandes livrées, refus maîtrisés, stock suffisant.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13816" y="5760720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Seuils de travail (RECO) à ajuster après le micro-test · indicateurs : CPM, CTR lien, coût par message, CPA, taux de refus, ROAS sur commandes livrées.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E-COMMERCE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site qui prend et suit les commandes seul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331012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23160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Passer d'une vitrine à une boutique : catalogue, fiche produit, panier, commande COD, suivi.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72160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seul ne tient pas le volume : le site automatise la commande et mesure la conversion.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QU'IL FAUT FAIRE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59736"/>
            <a:ext cx="35295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Choisir la solution technique (slide dédiée)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Catalogue + fiches produits complètes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Panier + checkout COD court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Back-office commandes : statuts, confirmation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Transporteur, frais par zone, suivi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 Meta + Conversions API, GA4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CGV, retours, données personnelles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85048" y="1965960"/>
            <a:ext cx="2999232" cy="2697480"/>
          </a:xfrm>
          <a:prstGeom prst="roundRect">
            <a:avLst>
              <a:gd name="adj" fmla="val 339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4504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PRÉREQUIS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04504" y="24231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Produits et prix (02) ; politique livraison (03) ; résultats micro-tests (04).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04504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356616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fonctionnel en préproduction, testé sur mobile.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 À PRENDRE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Plateforme · transporteur · paiement carte maintenant ou plus tard.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CRITÈRE DE PASSAGE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Commande test réussie de bout en bout sur mobile : commande → confirmation → expédition → statut.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DU SITE ACTUEL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vitrine à transformer en boutique</a:t>
            </a:r>
            <a:endParaRPr lang="en-US" sz="3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965960"/>
          <a:ext cx="10570464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4443984"/>
                <a:gridCol w="10058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DOMAINE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AUJOURD'HUI (CONSTATÉ)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NÉCESSAIRE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PRIORITÉ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Catalogue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catégories statiques, photos placeholder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Collections, filtres taille / couleur, stock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MVP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Fiche produit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Absente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Photos portées, prix, tailles, guide, composition, avis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MVP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Panier / commande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Aucun ; formulaire → WhatsApp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Panier, checkout COD (nom, tél., ville, adresse)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MVP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Paiement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Aucun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 d'abord ; carte (CMI / passerelle) ensuite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MVP / V2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Livraison &amp; commandes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Promesse « express Casablanca » non outillée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Transporteur, frais par zone, statuts, suivi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MVP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Analytics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Aucun outil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GA4, Pixel Meta + Conversions API, événements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MVP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SEO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Balise title seule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 description, Open Graph, données Product, sitemap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MVP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Performance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JPG 959×1280 non optimisés, pas de lazy-load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WebP / AVIF, images responsives, lazy-load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MVP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Responsive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media queries, non testé sur appareils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Mobile-first, testé sur vrais téléphones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MVP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Légal &amp; sécurité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 de CGV ni mentions ; n° en dur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HTTPS, CGV, rétractation (loi 31-08), données (loi 09-08)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MVP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Administration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Aucune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Produits, stock, prix, commandes gérables par toi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MVP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Compte client, codes promo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Après validation des ventes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A5A12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V2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C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CHOIX TECHNIQUE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options pour la boutique : une décision à prendre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30552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Shopify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8716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Plateforme hébergée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3F6B0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072384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Checkout, admin, stock, emails prêts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Paiement à la livraison configurable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Écosystème d'apps (avis, Pixel, transporteurs)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069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9A33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4325112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Abonnement (395 DH/mois cité pour Basic)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CMI via apps tierces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limité par le thème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98264" y="196596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130552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YouCan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48716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Plateforme marocaine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3F6B0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072384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Pensée pour le Maroc : COD, CMI natif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local, arabe / français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en route rapide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069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9A33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325112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Écosystème plus restreint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Moins de liberté de design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Dépendance à un acteur local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82712" y="196596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02168" y="2130552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 mesure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02168" y="248716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actuel + backend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02168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3F6B0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02168" y="3072384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total du design et des données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Réutilise ton site et tes compétences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 d'abonnement plateforme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02168" y="4069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9A33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02168" y="4325112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Panier, admin, sécurité à construire et maintenir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long avant la première commande</a:t>
            </a:r>
            <a:endParaRPr lang="en-US" sz="11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Risque d'erreurs sur le checkout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" y="5394960"/>
            <a:ext cx="10570464" cy="530352"/>
          </a:xfrm>
          <a:prstGeom prst="rect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" y="5394960"/>
            <a:ext cx="45720" cy="530352"/>
          </a:xfrm>
          <a:prstGeom prst="rect">
            <a:avLst/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69848" y="539496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453896" y="5394960"/>
            <a:ext cx="9747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 : </a:t>
            </a:r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plateforme hébergée pour la V1 (vitesse, fiabilité du checkout) ; sur mesure seulement si un besoin précis l'exige. DÉCISION à toi.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 ARTISTIQUE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image à la hauteur de la promesse qualité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331012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23160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Nouvelle identité visuelle et UX cohérentes avec « qualité prouvée », d'abord sur mobile.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72160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visuel est la première preuve de sérieux : il doit être cohérent du Reel à la fiche produit.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QU'IL FAUT FAIRE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59736"/>
            <a:ext cx="35295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Recueillir tes idées de design (moodboard)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Couleurs, typographies, grille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Composants : boutons, cartes, badges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Homepage, fiche produit, navigation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Parcours mobile et animations sobres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 de style réutilisé sur Instagram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85048" y="1965960"/>
            <a:ext cx="2999232" cy="2697480"/>
          </a:xfrm>
          <a:prstGeom prst="roundRect">
            <a:avLst>
              <a:gd name="adj" fmla="val 339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4504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PRÉREQUIS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04504" y="24231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Positionnement (01), vraies photos (02–03), structure du site (05).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04504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356616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Maquettes validées, guide de style, site habillé.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 À PRENDRE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 retenue parmi tes propositions ; niveau d'animation.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CRITÈRE DE PASSAGE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Maquettes validées, appliquées, sans dégrader la vitesse mobile.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07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mise en production vérifiée, pas improvisée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331012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23160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Déployer le site sur une infrastructure fiable, mesurée et testée.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72160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erreur au checkout ou un pixel cassé fausse toutes les données des Ads.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QU'IL FAUT FAIRE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59736"/>
            <a:ext cx="35295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Hébergement (selon plateforme choisie)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Domaine + DNS + HTTPS + e-mail pro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d'environnement et secrets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données si sur mesure, sauvegardes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GA4, Pixel, Conversions API vérifiés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Suivi des commandes et transporteur reliés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85048" y="1965960"/>
            <a:ext cx="2999232" cy="2697480"/>
          </a:xfrm>
          <a:prstGeom prst="roundRect">
            <a:avLst>
              <a:gd name="adj" fmla="val 339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4504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PRÉREQUIS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04504" y="24231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(05) et DA (06) terminés en préproduction.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04504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356616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en production, recette signée.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 À PRENDRE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de domaine · hébergeur · date de lancement.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CRITÈRE DE PASSAGE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de recette 100 % : parcours d'achat, mobile, paiements, e-mails, tracking.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07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RECETTE AVANT MISE EN LIGNE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tester comme un client, sur un vrai téléphone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2523744" cy="3200400"/>
          </a:xfrm>
          <a:prstGeom prst="roundRect">
            <a:avLst>
              <a:gd name="adj" fmla="val 3623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488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PARCOURS D'ACHAT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2487168"/>
            <a:ext cx="2157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Accueil → fiche → panier → commande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COD : champs, validation, confirmation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E-mail / SMS / WhatsApp de confirmation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Statut visible dans l'admin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2152" y="1965960"/>
            <a:ext cx="2523744" cy="32004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21488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MOBILE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487168"/>
            <a:ext cx="2157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iPhone et Android, 4G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Vitesse de chargement acceptable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Boutons et formulaires utilisables au pouce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Guide des tailles lisible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1965960"/>
            <a:ext cx="2523744" cy="32004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1656" y="21488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MESURE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2487168"/>
            <a:ext cx="2157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Événements : vue, ajout panier, achat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Pixel + Conversions API dédupliqués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GA4 reçoit les achats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Tableau de suivi prêt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78824" y="1965960"/>
            <a:ext cx="2523744" cy="32004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9992" y="21488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CONFIANCE &amp; LÉGAL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79992" y="2487168"/>
            <a:ext cx="2157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CGV, retours, rétractation 7 jours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Données personnelles (loi 09-08)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Coordonnées réelles, HTTPS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 Aucun logo ou avis non vérifié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" y="5349240"/>
            <a:ext cx="10570464" cy="548640"/>
          </a:xfrm>
          <a:prstGeom prst="rect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" y="5349240"/>
            <a:ext cx="45720" cy="548640"/>
          </a:xfrm>
          <a:prstGeom prst="rect">
            <a:avLst/>
          </a:prstGeom>
          <a:solidFill>
            <a:srgbClr val="3E88B5"/>
          </a:solidFill>
          <a:ln w="12700">
            <a:solidFill>
              <a:srgbClr val="3E88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9848" y="5349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5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53896" y="5349240"/>
            <a:ext cx="9747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final : </a:t>
            </a:r>
            <a:pPr indent="0" marL="0">
              <a:buNone/>
            </a:pPr>
            <a:r>
              <a:rPr lang="en-US" sz="125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passer 3 vraies commandes (Casablanca, grande ville, ville éloignée) jusqu'à la livraison et l'encaissement.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LANCEMENT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lancement est une étape à part entière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331012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23160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Mettre en ligne, amener les premiers visiteurs, obtenir et livrer les premières commandes.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72160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14 premiers jours révèlent les frictions réelles : il faut les observer de près.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QU'IL FAUT FAIRE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59736"/>
            <a:ext cx="35295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Annonce organique : posts, stories, réseau, WhatsApp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Ads basculées vers le site (campagne ventes)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Confirmation de chaque commande avant envoi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Suivi quotidien : visites, paniers, commandes, refus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Demande d'avis après chaque livraison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 des problèmes rencontrés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85048" y="1965960"/>
            <a:ext cx="2999232" cy="2697480"/>
          </a:xfrm>
          <a:prstGeom prst="roundRect">
            <a:avLst>
              <a:gd name="adj" fmla="val 339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4504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PRÉREQUIS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04504" y="24231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validée (07) ; créatifs gagnants du micro-test (04).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04504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356616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jours de données propres, premières commandes livrées, premiers avis.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 À PRENDRE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des 14 premiers jours · offre de lancement ou non.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CRITÈRE DE PASSAGE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jours de données et assez de commandes livrées pour calculer conversion, CPA et taux de refus.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OPTIMISATION &amp; SCALING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priorité à la fois, choisie par les données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331012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423160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Améliorer l'étape qui perd le plus, puis augmenter le budget sur ce qui est rentable.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721608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 optimiser en même temps rend impossible de savoir ce qui a marché.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9319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QU'IL FAUT FAIRE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59736"/>
            <a:ext cx="35295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Revue hebdomadaire du tunnel (slide suivante)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seule priorité par semaine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Réassort des produits gagnants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Nouveaux créatifs sur les gagnants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selon les règles de la phase 04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Reprise du scraper / veille quand les ventes existent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85048" y="1965960"/>
            <a:ext cx="2999232" cy="2697480"/>
          </a:xfrm>
          <a:prstGeom prst="roundRect">
            <a:avLst>
              <a:gd name="adj" fmla="val 3390"/>
            </a:avLst>
          </a:prstGeom>
          <a:solidFill>
            <a:srgbClr val="F1ECE2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04504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PRÉREQUIS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04504" y="24231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de lancement (08).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04504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04504" y="356616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 hebdo · décisions tracées · nouvelles collections.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 À PRENDRE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Hausse de budget · nouveaux produits · nouveaux canaux (TikTok, Google).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4828032"/>
            <a:ext cx="5193792" cy="1069848"/>
          </a:xfrm>
          <a:prstGeom prst="roundRect">
            <a:avLst>
              <a:gd name="adj" fmla="val 8547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CRITÈRE DE PASSAGE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52578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CPA stable sous le CPA max → on augmente ; sinon retour au produit, à l'offre ou au contenu.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148486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09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08606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À SURVEILLER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Lire le tunnel de haut en bas, corriger la première fuite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1965960"/>
            <a:ext cx="44805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9659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Impressions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42416" y="260604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2416" y="260604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71016" y="3246120"/>
            <a:ext cx="35661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71016" y="32461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Vues produit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99616" y="388620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99616" y="38862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Ajouts au panier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28216" y="4526280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28216" y="45262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Commandes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56816" y="5166360"/>
            <a:ext cx="2194560" cy="530352"/>
          </a:xfrm>
          <a:prstGeom prst="roundRect">
            <a:avLst>
              <a:gd name="adj" fmla="val 13793"/>
            </a:avLst>
          </a:prstGeom>
          <a:solidFill>
            <a:srgbClr val="1E2C38"/>
          </a:solidFill>
          <a:ln w="9525">
            <a:solidFill>
              <a:srgbClr val="1E2C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56816" y="51663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Livrées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0136" y="1965960"/>
          <a:ext cx="572414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15798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INDICATEUR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FORMULE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SI FAIBLE → AGIR SUR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CTR lien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clics / impressions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Créatif, accroche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Taux de conversion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commandes / sessions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Fiche produit, prix, confiance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Ajout panier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ajouts / vues produit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Photos, tailles, prix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CPA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dépense / commandes livrées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Ciblage, créatif, conversion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Panier moyen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 / commandes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Lots, seuil livraison gratuite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Taux de refus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refusées / expédiées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Confirmation, délais, ciblage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C38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Top produits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ventes &amp; marge par article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Réassort, créatifs dédiés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813816" y="5833872"/>
            <a:ext cx="1057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 · ne pas optimiser tout en même temps : la première étape qui casse dans le tunnel est la priorité de la semaine.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1250899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DÉCISIONS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211019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TRANCHER PAR TOI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Dix décisions qui débloquent la roadmap</a:t>
            </a:r>
            <a:endParaRPr lang="en-US" sz="31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965960"/>
          <a:ext cx="10570464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729984"/>
                <a:gridCol w="128016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#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DÉCISION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PHASE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spc="100" kern="0" dirty="0">
                          <a:solidFill>
                            <a:srgbClr val="215C8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QUAND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5C8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Retirer marques tierces, logos et avis non vérifiés du site et des contenus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Immédiat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5C8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Confirmer le périmètre « vêtements » (électronique hors roadmap)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Immédiat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5C8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Cible : homme ou mixte, tranche d'âge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Semaine 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5C8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 de marque et comptes sociaux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Semaine 1–2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5C8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Sélection des produits, quantités et prix de vente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Semaine 3–4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5C8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Politique livraison / échange / retour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02–03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Avant les Ads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5C8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Budget de test et plafond mensuel Ads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Avant le micro-test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5C8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Plateforme : Shopify, YouCan ou sur mesure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Début du site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5C8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Transporteur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Avant la recette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5C8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Statut juridique et facturation (avec un comptable)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87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Avant le lancement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777240"/>
            <a:ext cx="2070202" cy="310896"/>
          </a:xfrm>
          <a:prstGeom prst="roundRect">
            <a:avLst>
              <a:gd name="adj" fmla="val 50000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3816" y="777240"/>
            <a:ext cx="20702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2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PROCHAINES ÉTAPES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3030322" y="832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4" kern="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14 PROCHAINS JOURS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216152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actions pour démarrer, sans toucher au site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13816" y="2011680"/>
            <a:ext cx="3401568" cy="1719072"/>
          </a:xfrm>
          <a:prstGeom prst="roundRect">
            <a:avLst>
              <a:gd name="adj" fmla="val 5319"/>
            </a:avLst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231136"/>
            <a:ext cx="356616" cy="356616"/>
          </a:xfrm>
          <a:prstGeom prst="ellipse">
            <a:avLst/>
          </a:prstGeom>
          <a:solidFill>
            <a:srgbClr val="1E2C38"/>
          </a:solidFill>
          <a:ln w="9525">
            <a:solidFill>
              <a:srgbClr val="1E2C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23113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27048" y="2240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Valider cette roadmap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74320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Relire, corriger, trancher les décisions 1 à 4.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8264" y="2011680"/>
            <a:ext cx="3401568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231136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223113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11496" y="2240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Nettoyer les risques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74320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Marques et avis non vérifiés à retirer ; sauvegarde WhatsApp hors du dépôt.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82712" y="2011680"/>
            <a:ext cx="3401568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02168" y="2231136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02168" y="223113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95944" y="2240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social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202168" y="274320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10–15 comptes IG / FB concurrents relevés dans une grille.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" y="3886200"/>
            <a:ext cx="3401568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3272" y="4105656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3272" y="410565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527048" y="4114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 Hakim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1033272" y="461772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Pièces sans logo, critères qualité, échantillons, prix d'achat.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98264" y="3886200"/>
            <a:ext cx="3401568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4105656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410565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11496" y="4114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Comptes de marque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461772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Instagram pro, page Facebook, WhatsApp Business créés ou vérifiés.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82712" y="3886200"/>
            <a:ext cx="3401568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E4DC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02168" y="4105656"/>
            <a:ext cx="356616" cy="356616"/>
          </a:xfrm>
          <a:prstGeom prst="ellipse">
            <a:avLst/>
          </a:prstGeom>
          <a:solidFill>
            <a:srgbClr val="E6F0F7"/>
          </a:solidFill>
          <a:ln w="9525">
            <a:solidFill>
              <a:srgbClr val="C3DC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2168" y="410565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695944" y="4114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 coûts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8202168" y="461772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Coût complet par article, prêt pour fixer tes prix.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15C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 MODE · CASABLANCA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057400"/>
            <a:ext cx="10570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Prochaine étape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13816" y="3246120"/>
            <a:ext cx="1399032" cy="0"/>
          </a:xfrm>
          <a:prstGeom prst="line">
            <a:avLst/>
          </a:prstGeom>
          <a:noFill/>
          <a:ln w="19050">
            <a:solidFill>
              <a:srgbClr val="3E88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3474720"/>
            <a:ext cx="1057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E2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Valider la roadmap, </a:t>
            </a:r>
            <a:pPr indent="0" marL="0">
              <a:buNone/>
            </a:pPr>
            <a:r>
              <a:rPr lang="en-US" sz="2800" dirty="0">
                <a:solidFill>
                  <a:srgbClr val="215C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puis lancer la phase 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420624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1E2C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PRODUITS · CONTENU · PAGES PRÊTES · TESTS · SITE · LANCEMENT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3620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C68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 Mode Roadmap">
  <a:themeElements>
    <a:clrScheme name="H Mode Roadmap">
      <a:dk1>
        <a:srgbClr val="1E2C38"/>
      </a:dk1>
      <a:lt1>
        <a:srgbClr val="FFFFFF"/>
      </a:lt1>
      <a:dk2>
        <a:srgbClr val="5C6873"/>
      </a:dk2>
      <a:lt2>
        <a:srgbClr val="FAF7F0"/>
      </a:lt2>
      <a:accent1>
        <a:srgbClr val="215C80"/>
      </a:accent1>
      <a:accent2>
        <a:srgbClr val="3E88B5"/>
      </a:accent2>
      <a:accent3>
        <a:srgbClr val="C3DCEB"/>
      </a:accent3>
      <a:accent4>
        <a:srgbClr val="E4DCCB"/>
      </a:accent4>
      <a:accent5>
        <a:srgbClr val="82C925"/>
      </a:accent5>
      <a:accent6>
        <a:srgbClr val="2C9EE7"/>
      </a:accent6>
      <a:hlink>
        <a:srgbClr val="215C80"/>
      </a:hlink>
      <a:folHlink>
        <a:srgbClr val="5C6873"/>
      </a:folHlink>
    </a:clrScheme>
    <a:fontScheme name="H Mode Roadmap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 Mode — Roadmap e-commerce vêtements</dc:title>
  <dc:subject>PptxGenJS Presentation</dc:subject>
  <dc:creator>H Mode</dc:creator>
  <cp:lastModifiedBy>H Mode</cp:lastModifiedBy>
  <cp:revision>1</cp:revision>
  <dcterms:created xsi:type="dcterms:W3CDTF">2026-10-05T17:55:44Z</dcterms:created>
  <dcterms:modified xsi:type="dcterms:W3CDTF">2026-10-05T17:55:44Z</dcterms:modified>
</cp:coreProperties>
</file>